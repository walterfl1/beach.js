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934A9-AACD-4366-9939-66A159A927E3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ED9B4-7A90-48E1-AA32-537E65DF4E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2631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ED9B4-7A90-48E1-AA32-537E65DF4E19}" type="slidenum">
              <a:rPr lang="es-SV" smtClean="0"/>
              <a:t>3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83064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66F48-CFA7-6336-38DE-D8F4B2D0A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995414-5123-2513-A9FE-D4BCF9176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88641A-5ADB-1755-CE06-BA60F9CA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4C6A01-045A-C449-A4BD-7972BFE7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1F8D8A-5126-EA1E-3F17-D345F34F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584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255A6-6B95-F4F9-686D-D2959593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8A9C2-F9EF-F1A0-CD5D-A420ED63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066863-B4B5-4181-B48E-76EE2B8D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4ED0D-294A-B043-E4AA-90F96C10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4EAAF4-32AA-8BD9-8A1D-831385BF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0881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62305-DEEE-EFD3-1DFF-9C738995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B9622A-91DD-F4CE-D6B7-6BB3A3234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532EB1-A0B5-8DEF-E9E5-8D7FDDAB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025CF3-CBF0-45FF-3356-9D24E313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43208F-B211-3900-2CA4-97058117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7723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CA2FE-6E57-D28C-8A38-9076895E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D57158-00A2-CF83-8C5D-A381A545D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248A77-6CC2-2AA8-0891-D04A3311D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A7F02B-9538-CEBD-F96B-1F44ADFE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7BE354-EAE8-AC0E-C11B-1E4AC60C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91CF3D-E254-76C7-F174-5B9F1FB5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9410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0B8C1-D1F1-C41D-AC9D-A6DE22EF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9D59D3-90EA-AE26-F851-5A537D642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A84FE5-3284-30B1-466E-C84C523B7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C8E406-94D2-F6B5-3C72-B926C21F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0E2427-057E-C7D0-07D7-01E953879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3FC1AF-4EEF-665C-303B-38AD880C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9693976-D28E-AC82-A15C-D63EFEA5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632101-54CA-DA96-1086-21AAA5CA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18065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0A3BF-BB8A-947D-615B-DCB2DAD9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EE9AE2-FF40-4A3A-7E99-503ECC0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26B2C5-1639-9ED0-C2BA-FE39A30C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A9CB1E-8BF1-3DF5-417F-003753FF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155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F125F9-BE4B-5999-C07C-AC7A08C8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C72525-2D10-08D6-C057-93777FF3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34D685-496D-10BA-66C1-F7BECB14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44872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ACBC0-9F4C-E822-8704-021CE802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52099-AB88-C200-9FB6-8E10DFD19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2C3044-7300-3652-AEC1-707486947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C31556-1623-9D49-FBA9-B102054D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760CDB-0CD6-7124-E8D1-2BDDCE11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2BC8B0-D90B-8BD7-37D3-F5E1156D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8683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B0C70-6D0D-8927-8D8A-4B3CBF32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9C3C14-3B2F-464A-59E9-E6E363C09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755178-1F7B-8679-CDCD-494B524F2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E220D4-A65A-3F6B-480C-ED3E5B2B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BB001F-A78A-FA41-EC5C-0967AFF6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EB5F54-957A-9BA4-C615-19495179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6168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74343-1847-FA57-5992-908407D8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5DEC3F-3790-6E12-14D0-E4B589214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1E1C0-11BB-8210-296C-FD7864B2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728EFB-653E-8F08-43C0-E381D19C1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DA08D3-FE37-672B-0BBF-290978D4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4413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A44689-D349-C86B-A010-7DBD6F245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2E223-DBB2-A5DC-05C9-162EBA788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A8E9A4-0AD0-6AAA-C108-FC2B3879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6649FE-887A-86EF-E067-4D861F9B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290F2-B53E-FB94-ABA2-0847C02B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0059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C431AC-183C-419D-CD2D-0B504EB3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2A7A7E-5847-3D04-797B-0C5BF1D05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4FEDD0-4018-559A-8831-FAD80A560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56E92-C055-45C5-BBE6-A11FD9276AAA}" type="datetimeFigureOut">
              <a:rPr lang="es-SV" smtClean="0"/>
              <a:t>29/9/2025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44B66B-3833-A046-E9DD-ED21938ED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C645B5-EBD9-C695-DDFF-D6597B95C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5BBCB-D8E4-4DCD-A534-2AE028BF7E7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43054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6355A-AC6E-4D99-EA82-337A9C729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REVISION DE NECESIDADES DE P&amp;I HEM ESA 2026</a:t>
            </a:r>
          </a:p>
        </p:txBody>
      </p:sp>
    </p:spTree>
    <p:extLst>
      <p:ext uri="{BB962C8B-B14F-4D97-AF65-F5344CB8AC3E}">
        <p14:creationId xmlns:p14="http://schemas.microsoft.com/office/powerpoint/2010/main" val="246221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06C5D-6F5B-6431-0EE8-1D369C7B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NODOS Y HCP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CFEE8A-3B7E-2AAC-FDCC-7C0286DA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sz="2200" b="1" dirty="0"/>
              <a:t>Hospital de niños </a:t>
            </a:r>
            <a:r>
              <a:rPr lang="es-SV" sz="2200" b="1" dirty="0" err="1"/>
              <a:t>Benjamin</a:t>
            </a:r>
            <a:r>
              <a:rPr lang="es-SV" sz="2200" b="1" dirty="0"/>
              <a:t> Bloom.</a:t>
            </a:r>
          </a:p>
          <a:p>
            <a:r>
              <a:rPr lang="es-SV" sz="1800" dirty="0" err="1"/>
              <a:t>Seccion</a:t>
            </a:r>
            <a:r>
              <a:rPr lang="es-SV" sz="1800" dirty="0"/>
              <a:t> de Hemofilia:</a:t>
            </a:r>
          </a:p>
          <a:p>
            <a:r>
              <a:rPr lang="es-SV" sz="1800" dirty="0"/>
              <a:t>Dr. Armando Estrada, Dra. </a:t>
            </a:r>
            <a:r>
              <a:rPr lang="es-SV" sz="1800" dirty="0" err="1"/>
              <a:t>Galdamez</a:t>
            </a:r>
            <a:r>
              <a:rPr lang="es-SV" sz="1800" dirty="0"/>
              <a:t> y Dra. Ventura y  2 R Dra. Rodas y Dra. </a:t>
            </a:r>
            <a:r>
              <a:rPr lang="es-SV" sz="1800" dirty="0" err="1"/>
              <a:t>Henriquez</a:t>
            </a:r>
            <a:r>
              <a:rPr lang="es-SV" sz="1800" dirty="0"/>
              <a:t>.</a:t>
            </a:r>
          </a:p>
          <a:p>
            <a:r>
              <a:rPr lang="es-SV" sz="1800" dirty="0" err="1"/>
              <a:t>Poblacion</a:t>
            </a:r>
            <a:r>
              <a:rPr lang="es-SV" sz="1800" dirty="0"/>
              <a:t> que atiende es: 0-18 años.</a:t>
            </a:r>
          </a:p>
          <a:p>
            <a:r>
              <a:rPr lang="es-SV" sz="1800" dirty="0"/>
              <a:t>Pacientes activos 110. Todos teniendo profilaxis. </a:t>
            </a:r>
          </a:p>
          <a:p>
            <a:r>
              <a:rPr lang="es-SV" sz="2200" b="1" dirty="0"/>
              <a:t>Hospital </a:t>
            </a:r>
            <a:r>
              <a:rPr lang="es-SV" sz="2200" b="1" dirty="0" err="1"/>
              <a:t>isss</a:t>
            </a:r>
            <a:r>
              <a:rPr lang="es-SV" sz="2200" b="1" dirty="0"/>
              <a:t> oncología hematología</a:t>
            </a:r>
          </a:p>
          <a:p>
            <a:r>
              <a:rPr lang="es-SV" sz="1800" dirty="0"/>
              <a:t>Dr. Luis Rivas jefe departamento. Aquí los pacientes están a demanda y son 37.</a:t>
            </a:r>
          </a:p>
          <a:p>
            <a:r>
              <a:rPr lang="es-SV" sz="2200" b="1" dirty="0"/>
              <a:t>Hospital Nacional Rosales</a:t>
            </a:r>
          </a:p>
          <a:p>
            <a:r>
              <a:rPr lang="es-SV" sz="1800" dirty="0"/>
              <a:t>Jefe aun por definir, y estamos esperando donde serán asignados los pacientes de hemofilia.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11164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B0F14-72CB-367B-23F2-968CC88A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Eventos y actividades 2026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40D05C3-C175-5345-C6FE-0AD2FC520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8813467"/>
              </p:ext>
            </p:extLst>
          </p:nvPr>
        </p:nvGraphicFramePr>
        <p:xfrm>
          <a:off x="816077" y="1609321"/>
          <a:ext cx="10537720" cy="509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7322">
                  <a:extLst>
                    <a:ext uri="{9D8B030D-6E8A-4147-A177-3AD203B41FA5}">
                      <a16:colId xmlns:a16="http://schemas.microsoft.com/office/drawing/2014/main" val="14902625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99437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44597514"/>
                    </a:ext>
                  </a:extLst>
                </a:gridCol>
              </a:tblGrid>
              <a:tr h="577289">
                <a:tc>
                  <a:txBody>
                    <a:bodyPr/>
                    <a:lstStyle/>
                    <a:p>
                      <a:pPr algn="ctr"/>
                      <a:r>
                        <a:rPr lang="es-SV" dirty="0"/>
                        <a:t>Actividades  Locales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SV" dirty="0"/>
                        <a:t>Gasto estimado por reunión/evento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SV" dirty="0"/>
                        <a:t>Monto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748436"/>
                  </a:ext>
                </a:extLst>
              </a:tr>
              <a:tr h="824699">
                <a:tc>
                  <a:txBody>
                    <a:bodyPr/>
                    <a:lstStyle/>
                    <a:p>
                      <a:r>
                        <a:rPr lang="es-SV" sz="1100" dirty="0"/>
                        <a:t>Mesas redondas hematólogos que esta involucrados en hemofilia. Colaborando MSL, acceso.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$ 550.00 dólares.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$ 4,400.00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56120"/>
                  </a:ext>
                </a:extLst>
              </a:tr>
              <a:tr h="577289">
                <a:tc>
                  <a:txBody>
                    <a:bodyPr/>
                    <a:lstStyle/>
                    <a:p>
                      <a:r>
                        <a:rPr lang="es-SV" sz="1100" dirty="0"/>
                        <a:t>Apoyar reuniones con pacientes y cuidadores.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SV" dirty="0"/>
                        <a:t>$ 1000.00 dólares.</a:t>
                      </a:r>
                    </a:p>
                    <a:p>
                      <a:endParaRPr lang="es-S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$ 2,000.00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18167"/>
                  </a:ext>
                </a:extLst>
              </a:tr>
              <a:tr h="647551">
                <a:tc>
                  <a:txBody>
                    <a:bodyPr/>
                    <a:lstStyle/>
                    <a:p>
                      <a:r>
                        <a:rPr lang="es-SV" sz="1100" dirty="0"/>
                        <a:t>Volver speaker a </a:t>
                      </a:r>
                      <a:r>
                        <a:rPr lang="es-SV" sz="1100" dirty="0" err="1"/>
                        <a:t>KoL</a:t>
                      </a:r>
                      <a:r>
                        <a:rPr lang="es-SV" sz="1100" dirty="0"/>
                        <a:t> de las instituciones, Dr. Estrada y Dr. Rivas.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SV" dirty="0"/>
                        <a:t>$ 550.00 dólares.</a:t>
                      </a:r>
                    </a:p>
                    <a:p>
                      <a:endParaRPr lang="es-S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$ 2,200.00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18733"/>
                  </a:ext>
                </a:extLst>
              </a:tr>
              <a:tr h="329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SV" sz="1400" b="0" dirty="0"/>
                        <a:t>ONE TO ONE 2026 (HCP, FARMACEUTICOS Y ADMINISTRATIVOS).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$ 3,000.00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876019"/>
                  </a:ext>
                </a:extLst>
              </a:tr>
              <a:tr h="329880">
                <a:tc>
                  <a:txBody>
                    <a:bodyPr/>
                    <a:lstStyle/>
                    <a:p>
                      <a:r>
                        <a:rPr lang="es-SV" sz="1600" b="1" u="sng" dirty="0"/>
                        <a:t>ACTIVIDADES INTERNACIONALES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469653"/>
                  </a:ext>
                </a:extLst>
              </a:tr>
              <a:tr h="329880">
                <a:tc>
                  <a:txBody>
                    <a:bodyPr/>
                    <a:lstStyle/>
                    <a:p>
                      <a:r>
                        <a:rPr lang="es-SV" dirty="0"/>
                        <a:t>EAHAD (3-6 FEBRERO)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148145"/>
                  </a:ext>
                </a:extLst>
              </a:tr>
              <a:tr h="329880">
                <a:tc>
                  <a:txBody>
                    <a:bodyPr/>
                    <a:lstStyle/>
                    <a:p>
                      <a:r>
                        <a:rPr lang="es-SV" dirty="0"/>
                        <a:t>ISTH (11-15 JULIO)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58495"/>
                  </a:ext>
                </a:extLst>
              </a:tr>
              <a:tr h="329880">
                <a:tc>
                  <a:txBody>
                    <a:bodyPr/>
                    <a:lstStyle/>
                    <a:p>
                      <a:r>
                        <a:rPr lang="es-SV" dirty="0"/>
                        <a:t>ISPOR (3Q)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$ 5,000.00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990083"/>
                  </a:ext>
                </a:extLst>
              </a:tr>
              <a:tr h="329880">
                <a:tc>
                  <a:txBody>
                    <a:bodyPr/>
                    <a:lstStyle/>
                    <a:p>
                      <a:r>
                        <a:rPr lang="es-SV" dirty="0"/>
                        <a:t>Actividades en Colombia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SV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0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2243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Panorámica</PresentationFormat>
  <Paragraphs>34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REVISION DE NECESIDADES DE P&amp;I HEM ESA 2026</vt:lpstr>
      <vt:lpstr>NODOS Y HCP</vt:lpstr>
      <vt:lpstr>Eventos y actividades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walter Flores</dc:creator>
  <cp:lastModifiedBy>walter Flores</cp:lastModifiedBy>
  <cp:revision>2</cp:revision>
  <dcterms:created xsi:type="dcterms:W3CDTF">2025-09-29T17:22:05Z</dcterms:created>
  <dcterms:modified xsi:type="dcterms:W3CDTF">2025-09-29T17:24:12Z</dcterms:modified>
</cp:coreProperties>
</file>